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5943600" cy="5943600"/>
          </a:xfrm>
          <a:prstGeom prst="ellipse">
            <a:avLst/>
          </a:prstGeom>
          <a:solidFill>
            <a:srgbClr val="132A5E"/>
          </a:solidFill>
          <a:ln/>
        </p:spPr>
      </p:sp>
      <p:sp>
        <p:nvSpPr>
          <p:cNvPr id="3" name="Shape 1"/>
          <p:cNvSpPr/>
          <p:nvPr/>
        </p:nvSpPr>
        <p:spPr>
          <a:xfrm>
            <a:off x="10149840" y="-822960"/>
            <a:ext cx="3291840" cy="329184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011680" y="4389120"/>
            <a:ext cx="4754880" cy="4754880"/>
          </a:xfrm>
          <a:prstGeom prst="ellipse">
            <a:avLst/>
          </a:prstGeom>
          <a:solidFill>
            <a:srgbClr val="132A5E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868680"/>
            <a:ext cx="731520" cy="-228600"/>
          </a:xfrm>
          <a:prstGeom prst="line">
            <a:avLst/>
          </a:prstGeom>
          <a:noFill/>
          <a:ln w="19050">
            <a:solidFill>
              <a:srgbClr val="21D4B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54480" y="640080"/>
            <a:ext cx="-137160" cy="777240"/>
          </a:xfrm>
          <a:prstGeom prst="line">
            <a:avLst/>
          </a:prstGeom>
          <a:noFill/>
          <a:ln w="19050">
            <a:solidFill>
              <a:srgbClr val="21D4B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868680"/>
            <a:ext cx="594360" cy="548640"/>
          </a:xfrm>
          <a:prstGeom prst="line">
            <a:avLst/>
          </a:prstGeom>
          <a:noFill/>
          <a:ln w="19050">
            <a:solidFill>
              <a:srgbClr val="21D4B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8096" y="768096"/>
            <a:ext cx="109728" cy="109728"/>
          </a:xfrm>
          <a:prstGeom prst="ellipse">
            <a:avLst/>
          </a:prstGeom>
          <a:solidFill>
            <a:srgbClr val="21D4B4"/>
          </a:solidFill>
          <a:ln/>
        </p:spPr>
      </p:sp>
      <p:sp>
        <p:nvSpPr>
          <p:cNvPr id="9" name="Shape 7"/>
          <p:cNvSpPr/>
          <p:nvPr/>
        </p:nvSpPr>
        <p:spPr>
          <a:xfrm>
            <a:off x="1499616" y="539496"/>
            <a:ext cx="109728" cy="109728"/>
          </a:xfrm>
          <a:prstGeom prst="ellipse">
            <a:avLst/>
          </a:prstGeom>
          <a:solidFill>
            <a:srgbClr val="21D4B4"/>
          </a:solidFill>
          <a:ln/>
        </p:spPr>
      </p:sp>
      <p:sp>
        <p:nvSpPr>
          <p:cNvPr id="10" name="Shape 8"/>
          <p:cNvSpPr/>
          <p:nvPr/>
        </p:nvSpPr>
        <p:spPr>
          <a:xfrm>
            <a:off x="1362456" y="1362456"/>
            <a:ext cx="109728" cy="109728"/>
          </a:xfrm>
          <a:prstGeom prst="ellipse">
            <a:avLst/>
          </a:prstGeom>
          <a:solidFill>
            <a:srgbClr val="21D4B4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3317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PROOFPASS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822960" y="30632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21D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Verifiable Credentials on Cardano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22960" y="3703320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7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tamper-proof digital credential passport that lets universities, organizations, and bootcamps issue certificates as Cardano NFTs — verifiable by anyone, instantly, without ever contacting the issuer.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22960" y="5806440"/>
            <a:ext cx="310896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5897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7C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22960" y="614476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Chetan   •   Yekeshwar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7C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CARDANO PREPROD TESTNET  •  CIP-25 NFT CREDENTIALS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Paper &amp; PDF certificates are trivial to fake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in credentials today rests entirely on manual, human verification — a slow and easily-exploited process.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3502152" cy="3566160"/>
          </a:xfrm>
          <a:prstGeom prst="roundRect">
            <a:avLst>
              <a:gd name="adj" fmla="val 2350"/>
            </a:avLst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5400000">
              <a:srgbClr val="0A1F44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606040"/>
            <a:ext cx="777240" cy="777240"/>
          </a:xfrm>
          <a:prstGeom prst="ellipse">
            <a:avLst/>
          </a:prstGeom>
          <a:solidFill>
            <a:srgbClr val="0A1F44"/>
          </a:solidFill>
          <a:ln/>
        </p:spPr>
      </p:sp>
      <p:pic>
        <p:nvPicPr>
          <p:cNvPr id="7" name="Image 0" descr="/home/claude/proofpass/icons/file_edit_mi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6716" y="2802636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3566160"/>
            <a:ext cx="28620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0A1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Edited Internship Letters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960120" y="4251960"/>
            <a:ext cx="286207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 and images are easily altered with basic editing tools to fabricate internships or course completions that never happened.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462272" y="2286000"/>
            <a:ext cx="3502152" cy="3566160"/>
          </a:xfrm>
          <a:prstGeom prst="roundRect">
            <a:avLst>
              <a:gd name="adj" fmla="val 2350"/>
            </a:avLst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5400000">
              <a:srgbClr val="0A1F44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82312" y="2606040"/>
            <a:ext cx="777240" cy="777240"/>
          </a:xfrm>
          <a:prstGeom prst="ellipse">
            <a:avLst/>
          </a:prstGeom>
          <a:solidFill>
            <a:srgbClr val="0A1F44"/>
          </a:solidFill>
          <a:ln/>
        </p:spPr>
      </p:sp>
      <p:pic>
        <p:nvPicPr>
          <p:cNvPr id="12" name="Image 1" descr="/home/claude/proofpass/icons/fake_id_mi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8908" y="2802636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82312" y="3566160"/>
            <a:ext cx="28620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0A1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 Inflation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4782312" y="4251960"/>
            <a:ext cx="286207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claim skills or certifications they were never actually awarded, with no easy way for recruiters to check.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284464" y="2286000"/>
            <a:ext cx="3502152" cy="3566160"/>
          </a:xfrm>
          <a:prstGeom prst="roundRect">
            <a:avLst>
              <a:gd name="adj" fmla="val 2350"/>
            </a:avLst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5400000">
              <a:srgbClr val="0A1F44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04504" y="2606040"/>
            <a:ext cx="777240" cy="777240"/>
          </a:xfrm>
          <a:prstGeom prst="ellipse">
            <a:avLst/>
          </a:prstGeom>
          <a:solidFill>
            <a:srgbClr val="0A1F44"/>
          </a:solidFill>
          <a:ln/>
        </p:spPr>
      </p:sp>
      <p:pic>
        <p:nvPicPr>
          <p:cNvPr id="17" name="Image 2" descr="/home/claude/proofpass/icons/clock_m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1100" y="2802636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04504" y="3566160"/>
            <a:ext cx="28620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0A1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Verification Overhead</a:t>
            </a:r>
            <a:endParaRPr lang="en-US" sz="1650" dirty="0"/>
          </a:p>
        </p:txBody>
      </p:sp>
      <p:sp>
        <p:nvSpPr>
          <p:cNvPr id="19" name="Text 14"/>
          <p:cNvSpPr/>
          <p:nvPr/>
        </p:nvSpPr>
        <p:spPr>
          <a:xfrm>
            <a:off x="8604504" y="4251960"/>
            <a:ext cx="286207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Recruiters lose days emailing or calling issuing organizations just to confirm a single candidate's background.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1D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secured pipeline from issuance to validation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7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Proofpass wraps every certificate in AI extraction, decentralized storage, and blockchain-backed proof — so authenticity can be confirmed in seconds, not days.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2624328" cy="3520440"/>
          </a:xfrm>
          <a:prstGeom prst="roundRect">
            <a:avLst>
              <a:gd name="adj" fmla="val 3136"/>
            </a:avLst>
          </a:prstGeom>
          <a:solidFill>
            <a:srgbClr val="132A5E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53288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96112" y="3108960"/>
            <a:ext cx="658368" cy="658368"/>
          </a:xfrm>
          <a:prstGeom prst="ellipse">
            <a:avLst/>
          </a:prstGeom>
          <a:solidFill>
            <a:srgbClr val="21D4B4"/>
          </a:solidFill>
          <a:ln/>
        </p:spPr>
      </p:sp>
      <p:pic>
        <p:nvPicPr>
          <p:cNvPr id="8" name="Image 0" descr="/home/claude/proofpass/icons/robot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3273552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96112" y="3959352"/>
            <a:ext cx="21122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Extraction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96112" y="4526280"/>
            <a:ext cx="211226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C7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 reads the certificate and extracts name, skills, course, and dates.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264408" y="379476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1D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3520440" y="2331720"/>
            <a:ext cx="2624328" cy="3520440"/>
          </a:xfrm>
          <a:prstGeom prst="roundRect">
            <a:avLst>
              <a:gd name="adj" fmla="val 3136"/>
            </a:avLst>
          </a:prstGeom>
          <a:solidFill>
            <a:srgbClr val="132A5E"/>
          </a:solidFill>
          <a:ln/>
        </p:spPr>
      </p:sp>
      <p:sp>
        <p:nvSpPr>
          <p:cNvPr id="13" name="Text 10"/>
          <p:cNvSpPr/>
          <p:nvPr/>
        </p:nvSpPr>
        <p:spPr>
          <a:xfrm>
            <a:off x="3776472" y="253288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3776472" y="3108960"/>
            <a:ext cx="658368" cy="658368"/>
          </a:xfrm>
          <a:prstGeom prst="ellipse">
            <a:avLst/>
          </a:prstGeom>
          <a:solidFill>
            <a:srgbClr val="21D4B4"/>
          </a:solidFill>
          <a:ln/>
        </p:spPr>
      </p:sp>
      <p:pic>
        <p:nvPicPr>
          <p:cNvPr id="15" name="Image 1" descr="/home/claude/proofpass/icons/upload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1064" y="3273552"/>
            <a:ext cx="329184" cy="32918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776472" y="3959352"/>
            <a:ext cx="21122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IPFS Archiving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3776472" y="4526280"/>
            <a:ext cx="211226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C7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PDF is pinned to Pinata IPFS for permanent, decentralized storage.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6144768" y="379476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1D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6400800" y="2331720"/>
            <a:ext cx="2624328" cy="3520440"/>
          </a:xfrm>
          <a:prstGeom prst="roundRect">
            <a:avLst>
              <a:gd name="adj" fmla="val 3136"/>
            </a:avLst>
          </a:prstGeom>
          <a:solidFill>
            <a:srgbClr val="132A5E"/>
          </a:solidFill>
          <a:ln/>
        </p:spPr>
      </p:sp>
      <p:sp>
        <p:nvSpPr>
          <p:cNvPr id="20" name="Text 16"/>
          <p:cNvSpPr/>
          <p:nvPr/>
        </p:nvSpPr>
        <p:spPr>
          <a:xfrm>
            <a:off x="6656832" y="253288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Shape 17"/>
          <p:cNvSpPr/>
          <p:nvPr/>
        </p:nvSpPr>
        <p:spPr>
          <a:xfrm>
            <a:off x="6656832" y="3108960"/>
            <a:ext cx="658368" cy="658368"/>
          </a:xfrm>
          <a:prstGeom prst="ellipse">
            <a:avLst/>
          </a:prstGeom>
          <a:solidFill>
            <a:srgbClr val="21D4B4"/>
          </a:solidFill>
          <a:ln/>
        </p:spPr>
      </p:sp>
      <p:pic>
        <p:nvPicPr>
          <p:cNvPr id="22" name="Image 2" descr="/home/claude/proofpass/icons/cube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1424" y="3273552"/>
            <a:ext cx="329184" cy="32918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656832" y="3959352"/>
            <a:ext cx="21122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NFT Minting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656832" y="4526280"/>
            <a:ext cx="211226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C7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CIP-25 NFT binds the recipient, course, and PDF hash on the Cardano chain.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9025128" y="379476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1D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6" name="Shape 21"/>
          <p:cNvSpPr/>
          <p:nvPr/>
        </p:nvSpPr>
        <p:spPr>
          <a:xfrm>
            <a:off x="9281160" y="2331720"/>
            <a:ext cx="2624328" cy="3520440"/>
          </a:xfrm>
          <a:prstGeom prst="roundRect">
            <a:avLst>
              <a:gd name="adj" fmla="val 3136"/>
            </a:avLst>
          </a:prstGeom>
          <a:solidFill>
            <a:srgbClr val="132A5E"/>
          </a:solidFill>
          <a:ln/>
        </p:spPr>
      </p:sp>
      <p:sp>
        <p:nvSpPr>
          <p:cNvPr id="27" name="Text 22"/>
          <p:cNvSpPr/>
          <p:nvPr/>
        </p:nvSpPr>
        <p:spPr>
          <a:xfrm>
            <a:off x="9537192" y="253288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8" name="Shape 23"/>
          <p:cNvSpPr/>
          <p:nvPr/>
        </p:nvSpPr>
        <p:spPr>
          <a:xfrm>
            <a:off x="9537192" y="3108960"/>
            <a:ext cx="658368" cy="658368"/>
          </a:xfrm>
          <a:prstGeom prst="ellipse">
            <a:avLst/>
          </a:prstGeom>
          <a:solidFill>
            <a:srgbClr val="21D4B4"/>
          </a:solidFill>
          <a:ln/>
        </p:spPr>
      </p:sp>
      <p:pic>
        <p:nvPicPr>
          <p:cNvPr id="29" name="Image 3" descr="/home/claude/proofpass/icons/search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1784" y="3273552"/>
            <a:ext cx="329184" cy="329184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537192" y="3959352"/>
            <a:ext cx="21122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Instant Verification</a:t>
            </a:r>
            <a:endParaRPr lang="en-US" sz="1500" dirty="0"/>
          </a:p>
        </p:txBody>
      </p:sp>
      <p:sp>
        <p:nvSpPr>
          <p:cNvPr id="31" name="Text 25"/>
          <p:cNvSpPr/>
          <p:nvPr/>
        </p:nvSpPr>
        <p:spPr>
          <a:xfrm>
            <a:off x="9537192" y="4526280"/>
            <a:ext cx="211226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C7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uploads a PDF or shortcode; the hash is matched on-chain in real time.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pieces connect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480560" y="2606040"/>
            <a:ext cx="3200400" cy="1691640"/>
          </a:xfrm>
          <a:prstGeom prst="roundRect">
            <a:avLst>
              <a:gd name="adj" fmla="val 4865"/>
            </a:avLst>
          </a:prstGeom>
          <a:solidFill>
            <a:srgbClr val="0A1F44"/>
          </a:solidFill>
          <a:ln/>
          <a:effectLst>
            <a:outerShdw sx="100000" sy="100000" kx="0" ky="0" algn="bl" rotWithShape="0" blurRad="101600" dist="38100" dir="5400000">
              <a:srgbClr val="0A1F44">
                <a:alpha val="18000"/>
              </a:srgbClr>
            </a:outerShdw>
          </a:effectLst>
        </p:spPr>
      </p:sp>
      <p:pic>
        <p:nvPicPr>
          <p:cNvPr id="5" name="Image 0" descr="/home/claude/proofpass/icons/server_mi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3872" y="2807208"/>
            <a:ext cx="493776" cy="4937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63440" y="33832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Next.js 16 App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4663440" y="377647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Router · TypeScript · Prisma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40080" y="2148840"/>
            <a:ext cx="1920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F44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22960" y="23317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/home/claude/proofpass/icons/certificat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" y="2455164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22960" y="28803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Issuer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822960" y="310896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Uploads PDF cert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640080" y="3611880"/>
            <a:ext cx="1920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F44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22960" y="37947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5" name="Image 2" descr="/home/claude/proofpass/icons/search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" y="3918204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2960" y="43434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822960" y="457200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credential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9052560" y="1417320"/>
            <a:ext cx="21488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F44">
                <a:alpha val="1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9217152" y="1645920"/>
            <a:ext cx="502920" cy="502920"/>
          </a:xfrm>
          <a:prstGeom prst="ellipse">
            <a:avLst/>
          </a:prstGeom>
          <a:solidFill>
            <a:srgbClr val="21D4B4"/>
          </a:solidFill>
          <a:ln/>
        </p:spPr>
      </p:sp>
      <p:pic>
        <p:nvPicPr>
          <p:cNvPr id="20" name="Image 3" descr="/home/claude/proofpass/icons/robot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6024" y="1764792"/>
            <a:ext cx="265176" cy="26517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829800" y="15636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9829800" y="18745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extraction engine</a:t>
            </a:r>
            <a:endParaRPr lang="en-US" sz="850" dirty="0"/>
          </a:p>
        </p:txBody>
      </p:sp>
      <p:sp>
        <p:nvSpPr>
          <p:cNvPr id="23" name="Shape 17"/>
          <p:cNvSpPr/>
          <p:nvPr/>
        </p:nvSpPr>
        <p:spPr>
          <a:xfrm>
            <a:off x="9052560" y="2514600"/>
            <a:ext cx="21488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F44">
                <a:alpha val="1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9217152" y="2743200"/>
            <a:ext cx="502920" cy="502920"/>
          </a:xfrm>
          <a:prstGeom prst="ellipse">
            <a:avLst/>
          </a:prstGeom>
          <a:solidFill>
            <a:srgbClr val="21D4B4"/>
          </a:solidFill>
          <a:ln/>
        </p:spPr>
      </p:sp>
      <p:pic>
        <p:nvPicPr>
          <p:cNvPr id="25" name="Image 4" descr="/home/claude/proofpass/icons/upload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6024" y="2862072"/>
            <a:ext cx="265176" cy="26517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829800" y="266090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Pinata IPFS</a:t>
            </a:r>
            <a:endParaRPr lang="en-US" sz="1150" dirty="0"/>
          </a:p>
        </p:txBody>
      </p:sp>
      <p:sp>
        <p:nvSpPr>
          <p:cNvPr id="27" name="Text 20"/>
          <p:cNvSpPr/>
          <p:nvPr/>
        </p:nvSpPr>
        <p:spPr>
          <a:xfrm>
            <a:off x="9829800" y="29718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Decentralized file archive</a:t>
            </a:r>
            <a:endParaRPr lang="en-US" sz="850" dirty="0"/>
          </a:p>
        </p:txBody>
      </p:sp>
      <p:sp>
        <p:nvSpPr>
          <p:cNvPr id="28" name="Shape 21"/>
          <p:cNvSpPr/>
          <p:nvPr/>
        </p:nvSpPr>
        <p:spPr>
          <a:xfrm>
            <a:off x="9052560" y="3611880"/>
            <a:ext cx="21488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F44">
                <a:alpha val="18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9217152" y="3840480"/>
            <a:ext cx="502920" cy="502920"/>
          </a:xfrm>
          <a:prstGeom prst="ellipse">
            <a:avLst/>
          </a:prstGeom>
          <a:solidFill>
            <a:srgbClr val="21D4B4"/>
          </a:solidFill>
          <a:ln/>
        </p:spPr>
      </p:sp>
      <p:pic>
        <p:nvPicPr>
          <p:cNvPr id="30" name="Image 5" descr="/home/claude/proofpass/icons/cube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6024" y="3959352"/>
            <a:ext cx="265176" cy="265176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9829800" y="375818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Blockfrost + Mesh</a:t>
            </a:r>
            <a:endParaRPr lang="en-US" sz="1150" dirty="0"/>
          </a:p>
        </p:txBody>
      </p:sp>
      <p:sp>
        <p:nvSpPr>
          <p:cNvPr id="32" name="Text 24"/>
          <p:cNvSpPr/>
          <p:nvPr/>
        </p:nvSpPr>
        <p:spPr>
          <a:xfrm>
            <a:off x="9829800" y="40690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Cardano chain access</a:t>
            </a:r>
            <a:endParaRPr lang="en-US" sz="850" dirty="0"/>
          </a:p>
        </p:txBody>
      </p:sp>
      <p:sp>
        <p:nvSpPr>
          <p:cNvPr id="33" name="Shape 25"/>
          <p:cNvSpPr/>
          <p:nvPr/>
        </p:nvSpPr>
        <p:spPr>
          <a:xfrm>
            <a:off x="9052560" y="4709160"/>
            <a:ext cx="21488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F44">
                <a:alpha val="18000"/>
              </a:srgbClr>
            </a:outerShdw>
          </a:effectLst>
        </p:spPr>
      </p:sp>
      <p:sp>
        <p:nvSpPr>
          <p:cNvPr id="34" name="Shape 26"/>
          <p:cNvSpPr/>
          <p:nvPr/>
        </p:nvSpPr>
        <p:spPr>
          <a:xfrm>
            <a:off x="9217152" y="4937760"/>
            <a:ext cx="502920" cy="502920"/>
          </a:xfrm>
          <a:prstGeom prst="ellipse">
            <a:avLst/>
          </a:prstGeom>
          <a:solidFill>
            <a:srgbClr val="21D4B4"/>
          </a:solidFill>
          <a:ln/>
        </p:spPr>
      </p:sp>
      <p:pic>
        <p:nvPicPr>
          <p:cNvPr id="35" name="Image 6" descr="/home/claude/proofpass/icons/database_nav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36024" y="5056632"/>
            <a:ext cx="265176" cy="265176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9829800" y="485546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/ Prisma</a:t>
            </a:r>
            <a:endParaRPr lang="en-US" sz="1150" dirty="0"/>
          </a:p>
        </p:txBody>
      </p:sp>
      <p:sp>
        <p:nvSpPr>
          <p:cNvPr id="37" name="Text 28"/>
          <p:cNvSpPr/>
          <p:nvPr/>
        </p:nvSpPr>
        <p:spPr>
          <a:xfrm>
            <a:off x="9829800" y="51663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relational store</a:t>
            </a:r>
            <a:endParaRPr lang="en-US" sz="850" dirty="0"/>
          </a:p>
        </p:txBody>
      </p:sp>
      <p:sp>
        <p:nvSpPr>
          <p:cNvPr id="38" name="Shape 29"/>
          <p:cNvSpPr/>
          <p:nvPr/>
        </p:nvSpPr>
        <p:spPr>
          <a:xfrm>
            <a:off x="2560320" y="2743200"/>
            <a:ext cx="1920240" cy="32004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39" name="Shape 30"/>
          <p:cNvSpPr/>
          <p:nvPr/>
        </p:nvSpPr>
        <p:spPr>
          <a:xfrm>
            <a:off x="2560320" y="3794760"/>
            <a:ext cx="1920240" cy="41148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40" name="Shape 31"/>
          <p:cNvSpPr/>
          <p:nvPr/>
        </p:nvSpPr>
        <p:spPr>
          <a:xfrm>
            <a:off x="7680960" y="1874520"/>
            <a:ext cx="1371600" cy="105156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41" name="Shape 32"/>
          <p:cNvSpPr/>
          <p:nvPr/>
        </p:nvSpPr>
        <p:spPr>
          <a:xfrm>
            <a:off x="7680960" y="2971800"/>
            <a:ext cx="1371600" cy="27432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42" name="Shape 33"/>
          <p:cNvSpPr/>
          <p:nvPr/>
        </p:nvSpPr>
        <p:spPr>
          <a:xfrm>
            <a:off x="7680960" y="3566160"/>
            <a:ext cx="1371600" cy="50292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43" name="Shape 34"/>
          <p:cNvSpPr/>
          <p:nvPr/>
        </p:nvSpPr>
        <p:spPr>
          <a:xfrm>
            <a:off x="7680960" y="3977640"/>
            <a:ext cx="1371600" cy="118872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44" name="Text 35"/>
          <p:cNvSpPr/>
          <p:nvPr/>
        </p:nvSpPr>
        <p:spPr>
          <a:xfrm>
            <a:off x="640080" y="58064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Next.js app is the single orchestration point: it talks to Gemini for OCR/extraction, Pinata for storage, and Blockfrost/Mesh for on-chain minting — while SQLite tracks issuer, credential, and shortcode metadata locally.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0" y="4846320"/>
            <a:ext cx="2926080" cy="2926080"/>
          </a:xfrm>
          <a:prstGeom prst="ellipse">
            <a:avLst/>
          </a:prstGeom>
          <a:solidFill>
            <a:srgbClr val="132A5E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5486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1D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01 · INTELLIGENCE LAYER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051560"/>
            <a:ext cx="914400" cy="914400"/>
          </a:xfrm>
          <a:prstGeom prst="ellipse">
            <a:avLst/>
          </a:prstGeom>
          <a:solidFill>
            <a:srgbClr val="21D4B4"/>
          </a:solidFill>
          <a:ln/>
        </p:spPr>
      </p:sp>
      <p:pic>
        <p:nvPicPr>
          <p:cNvPr id="6" name="Image 0" descr="/home/claude/proofpass/icons/robot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26187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14884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Extraction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502920" y="320040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C7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 an issuer drops a certificate PDF, Google Gemini 2.5 Flash reads the document like a person would — pulling structured data straight out of unstructured layouts.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02920" y="5074920"/>
            <a:ext cx="301752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52120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D4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Seconds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502920" y="57607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extraction time per certificate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754880" y="777240"/>
            <a:ext cx="6888175" cy="1170432"/>
          </a:xfrm>
          <a:prstGeom prst="roundRect">
            <a:avLst>
              <a:gd name="adj" fmla="val 6250"/>
            </a:avLst>
          </a:prstGeom>
          <a:solidFill>
            <a:srgbClr val="F5F7FA"/>
          </a:solidFill>
          <a:ln/>
        </p:spPr>
      </p:sp>
      <p:sp>
        <p:nvSpPr>
          <p:cNvPr id="13" name="Shape 10"/>
          <p:cNvSpPr/>
          <p:nvPr/>
        </p:nvSpPr>
        <p:spPr>
          <a:xfrm>
            <a:off x="4983480" y="996696"/>
            <a:ext cx="731520" cy="731520"/>
          </a:xfrm>
          <a:prstGeom prst="ellipse">
            <a:avLst/>
          </a:prstGeom>
          <a:solidFill>
            <a:srgbClr val="0A1F44"/>
          </a:solidFill>
          <a:ln/>
        </p:spPr>
      </p:sp>
      <p:pic>
        <p:nvPicPr>
          <p:cNvPr id="14" name="Image 1" descr="/home/claude/proofpass/icons/certificate_mi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7216" y="1170432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897880" y="905256"/>
            <a:ext cx="56994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Recipient Name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5897880" y="1261872"/>
            <a:ext cx="56994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the certificate holder even across varied templates, fonts, and layouts.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754880" y="2148840"/>
            <a:ext cx="6888175" cy="1170432"/>
          </a:xfrm>
          <a:prstGeom prst="roundRect">
            <a:avLst>
              <a:gd name="adj" fmla="val 6250"/>
            </a:avLst>
          </a:prstGeom>
          <a:solidFill>
            <a:srgbClr val="F5F7FA"/>
          </a:solidFill>
          <a:ln/>
        </p:spPr>
      </p:sp>
      <p:sp>
        <p:nvSpPr>
          <p:cNvPr id="18" name="Shape 14"/>
          <p:cNvSpPr/>
          <p:nvPr/>
        </p:nvSpPr>
        <p:spPr>
          <a:xfrm>
            <a:off x="4983480" y="2368296"/>
            <a:ext cx="731520" cy="731520"/>
          </a:xfrm>
          <a:prstGeom prst="ellipse">
            <a:avLst/>
          </a:prstGeom>
          <a:solidFill>
            <a:srgbClr val="0A1F44"/>
          </a:solidFill>
          <a:ln/>
        </p:spPr>
      </p:sp>
      <p:pic>
        <p:nvPicPr>
          <p:cNvPr id="19" name="Image 2" descr="/home/claude/proofpass/icons/code_m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7216" y="2542032"/>
            <a:ext cx="384048" cy="38404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897880" y="2276856"/>
            <a:ext cx="56994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&amp; Course Name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5897880" y="2633472"/>
            <a:ext cx="56994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the awarded course, program, or skill set directly from the document body.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754880" y="3520440"/>
            <a:ext cx="6888175" cy="1170432"/>
          </a:xfrm>
          <a:prstGeom prst="roundRect">
            <a:avLst>
              <a:gd name="adj" fmla="val 6250"/>
            </a:avLst>
          </a:prstGeom>
          <a:solidFill>
            <a:srgbClr val="F5F7FA"/>
          </a:solidFill>
          <a:ln/>
        </p:spPr>
      </p:sp>
      <p:sp>
        <p:nvSpPr>
          <p:cNvPr id="23" name="Shape 18"/>
          <p:cNvSpPr/>
          <p:nvPr/>
        </p:nvSpPr>
        <p:spPr>
          <a:xfrm>
            <a:off x="4983480" y="3739896"/>
            <a:ext cx="731520" cy="731520"/>
          </a:xfrm>
          <a:prstGeom prst="ellipse">
            <a:avLst/>
          </a:prstGeom>
          <a:solidFill>
            <a:srgbClr val="0A1F44"/>
          </a:solidFill>
          <a:ln/>
        </p:spPr>
      </p:sp>
      <p:pic>
        <p:nvPicPr>
          <p:cNvPr id="24" name="Image 3" descr="/home/claude/proofpass/icons/clock_mi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7216" y="3913632"/>
            <a:ext cx="384048" cy="38404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897880" y="3648456"/>
            <a:ext cx="56994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Dates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5897880" y="4005072"/>
            <a:ext cx="56994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issuance (and expiry, where present) dates for accurate on-chain records.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4754880" y="4892040"/>
            <a:ext cx="6888175" cy="1170432"/>
          </a:xfrm>
          <a:prstGeom prst="roundRect">
            <a:avLst>
              <a:gd name="adj" fmla="val 6250"/>
            </a:avLst>
          </a:prstGeom>
          <a:solidFill>
            <a:srgbClr val="F5F7FA"/>
          </a:solidFill>
          <a:ln/>
        </p:spPr>
      </p:sp>
      <p:sp>
        <p:nvSpPr>
          <p:cNvPr id="28" name="Shape 22"/>
          <p:cNvSpPr/>
          <p:nvPr/>
        </p:nvSpPr>
        <p:spPr>
          <a:xfrm>
            <a:off x="4983480" y="5111496"/>
            <a:ext cx="731520" cy="731520"/>
          </a:xfrm>
          <a:prstGeom prst="ellipse">
            <a:avLst/>
          </a:prstGeom>
          <a:solidFill>
            <a:srgbClr val="0A1F44"/>
          </a:solidFill>
          <a:ln/>
        </p:spPr>
      </p:sp>
      <p:pic>
        <p:nvPicPr>
          <p:cNvPr id="29" name="Image 4" descr="/home/claude/proofpass/icons/check_min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7216" y="5285232"/>
            <a:ext cx="384048" cy="38404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897880" y="5020056"/>
            <a:ext cx="56994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</a:t>
            </a:r>
            <a:endParaRPr lang="en-US" sz="1400" dirty="0"/>
          </a:p>
        </p:txBody>
      </p:sp>
      <p:sp>
        <p:nvSpPr>
          <p:cNvPr id="31" name="Text 24"/>
          <p:cNvSpPr/>
          <p:nvPr/>
        </p:nvSpPr>
        <p:spPr>
          <a:xfrm>
            <a:off x="5897880" y="5376672"/>
            <a:ext cx="56994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clean, validated fields ready to be archived and minted — no manual re-typing.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0" y="4846320"/>
            <a:ext cx="2926080" cy="2926080"/>
          </a:xfrm>
          <a:prstGeom prst="ellipse">
            <a:avLst/>
          </a:prstGeom>
          <a:solidFill>
            <a:srgbClr val="132A5E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5486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1D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02 · STORAGE LAYER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051560"/>
            <a:ext cx="914400" cy="914400"/>
          </a:xfrm>
          <a:prstGeom prst="ellipse">
            <a:avLst/>
          </a:prstGeom>
          <a:solidFill>
            <a:srgbClr val="21D4B4"/>
          </a:solidFill>
          <a:ln/>
        </p:spPr>
      </p:sp>
      <p:pic>
        <p:nvPicPr>
          <p:cNvPr id="6" name="Image 0" descr="/home/claude/proofpass/icons/upload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26187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14884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Decentralized Archiving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502920" y="320040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C7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certificate PDF is pinned to IPFS through Pinata — so the source document survives independently of Proofpass's own servers.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02920" y="5074920"/>
            <a:ext cx="301752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52120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D4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502920" y="57607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file fidelity, permanently pinned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754880" y="777240"/>
            <a:ext cx="6888175" cy="1170432"/>
          </a:xfrm>
          <a:prstGeom prst="roundRect">
            <a:avLst>
              <a:gd name="adj" fmla="val 6250"/>
            </a:avLst>
          </a:prstGeom>
          <a:solidFill>
            <a:srgbClr val="F5F7FA"/>
          </a:solidFill>
          <a:ln/>
        </p:spPr>
      </p:sp>
      <p:sp>
        <p:nvSpPr>
          <p:cNvPr id="13" name="Shape 10"/>
          <p:cNvSpPr/>
          <p:nvPr/>
        </p:nvSpPr>
        <p:spPr>
          <a:xfrm>
            <a:off x="4983480" y="996696"/>
            <a:ext cx="731520" cy="731520"/>
          </a:xfrm>
          <a:prstGeom prst="ellipse">
            <a:avLst/>
          </a:prstGeom>
          <a:solidFill>
            <a:srgbClr val="0A1F44"/>
          </a:solidFill>
          <a:ln/>
        </p:spPr>
      </p:sp>
      <p:pic>
        <p:nvPicPr>
          <p:cNvPr id="14" name="Image 1" descr="/home/claude/proofpass/icons/database_mi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7216" y="1170432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897880" y="905256"/>
            <a:ext cx="56994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Pinata SDK Integration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5897880" y="1261872"/>
            <a:ext cx="56994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pinning, gateway access, and content addressing behind a simple API.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754880" y="2148840"/>
            <a:ext cx="6888175" cy="1170432"/>
          </a:xfrm>
          <a:prstGeom prst="roundRect">
            <a:avLst>
              <a:gd name="adj" fmla="val 6250"/>
            </a:avLst>
          </a:prstGeom>
          <a:solidFill>
            <a:srgbClr val="F5F7FA"/>
          </a:solidFill>
          <a:ln/>
        </p:spPr>
      </p:sp>
      <p:sp>
        <p:nvSpPr>
          <p:cNvPr id="18" name="Shape 14"/>
          <p:cNvSpPr/>
          <p:nvPr/>
        </p:nvSpPr>
        <p:spPr>
          <a:xfrm>
            <a:off x="4983480" y="2368296"/>
            <a:ext cx="731520" cy="731520"/>
          </a:xfrm>
          <a:prstGeom prst="ellipse">
            <a:avLst/>
          </a:prstGeom>
          <a:solidFill>
            <a:srgbClr val="0A1F44"/>
          </a:solidFill>
          <a:ln/>
        </p:spPr>
      </p:sp>
      <p:pic>
        <p:nvPicPr>
          <p:cNvPr id="19" name="Image 2" descr="/home/claude/proofpass/icons/lock_m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7216" y="2542032"/>
            <a:ext cx="384048" cy="38404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897880" y="2276856"/>
            <a:ext cx="56994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Content-Addressed Storage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5897880" y="2633472"/>
            <a:ext cx="56994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file gets a unique CID — identical files always resolve to the same address.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754880" y="3520440"/>
            <a:ext cx="6888175" cy="1170432"/>
          </a:xfrm>
          <a:prstGeom prst="roundRect">
            <a:avLst>
              <a:gd name="adj" fmla="val 6250"/>
            </a:avLst>
          </a:prstGeom>
          <a:solidFill>
            <a:srgbClr val="F5F7FA"/>
          </a:solidFill>
          <a:ln/>
        </p:spPr>
      </p:sp>
      <p:sp>
        <p:nvSpPr>
          <p:cNvPr id="23" name="Shape 18"/>
          <p:cNvSpPr/>
          <p:nvPr/>
        </p:nvSpPr>
        <p:spPr>
          <a:xfrm>
            <a:off x="4983480" y="3739896"/>
            <a:ext cx="731520" cy="731520"/>
          </a:xfrm>
          <a:prstGeom prst="ellipse">
            <a:avLst/>
          </a:prstGeom>
          <a:solidFill>
            <a:srgbClr val="0A1F44"/>
          </a:solidFill>
          <a:ln/>
        </p:spPr>
      </p:sp>
      <p:pic>
        <p:nvPicPr>
          <p:cNvPr id="24" name="Image 3" descr="/home/claude/proofpass/icons/link_mi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7216" y="3913632"/>
            <a:ext cx="384048" cy="38404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897880" y="3648456"/>
            <a:ext cx="56994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Retrieval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5897880" y="4005072"/>
            <a:ext cx="56994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are fetched via a configurable Pinata gateway for fast, public access.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4754880" y="4892040"/>
            <a:ext cx="6888175" cy="1170432"/>
          </a:xfrm>
          <a:prstGeom prst="roundRect">
            <a:avLst>
              <a:gd name="adj" fmla="val 6250"/>
            </a:avLst>
          </a:prstGeom>
          <a:solidFill>
            <a:srgbClr val="F5F7FA"/>
          </a:solidFill>
          <a:ln/>
        </p:spPr>
      </p:sp>
      <p:sp>
        <p:nvSpPr>
          <p:cNvPr id="28" name="Shape 22"/>
          <p:cNvSpPr/>
          <p:nvPr/>
        </p:nvSpPr>
        <p:spPr>
          <a:xfrm>
            <a:off x="4983480" y="5111496"/>
            <a:ext cx="731520" cy="731520"/>
          </a:xfrm>
          <a:prstGeom prst="ellipse">
            <a:avLst/>
          </a:prstGeom>
          <a:solidFill>
            <a:srgbClr val="0A1F44"/>
          </a:solidFill>
          <a:ln/>
        </p:spPr>
      </p:sp>
      <p:pic>
        <p:nvPicPr>
          <p:cNvPr id="29" name="Image 4" descr="/home/claude/proofpass/icons/shield_min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7216" y="5285232"/>
            <a:ext cx="384048" cy="38404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897880" y="5020056"/>
            <a:ext cx="56994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of Proofpass Servers</a:t>
            </a:r>
            <a:endParaRPr lang="en-US" sz="1400" dirty="0"/>
          </a:p>
        </p:txBody>
      </p:sp>
      <p:sp>
        <p:nvSpPr>
          <p:cNvPr id="31" name="Text 24"/>
          <p:cNvSpPr/>
          <p:nvPr/>
        </p:nvSpPr>
        <p:spPr>
          <a:xfrm>
            <a:off x="5897880" y="5376672"/>
            <a:ext cx="56994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if the app goes offline, the archived certificate remains retrievable.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0" y="4846320"/>
            <a:ext cx="2926080" cy="2926080"/>
          </a:xfrm>
          <a:prstGeom prst="ellipse">
            <a:avLst/>
          </a:prstGeom>
          <a:solidFill>
            <a:srgbClr val="132A5E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5486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1D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03 · TRUST LAYER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051560"/>
            <a:ext cx="914400" cy="914400"/>
          </a:xfrm>
          <a:prstGeom prst="ellipse">
            <a:avLst/>
          </a:prstGeom>
          <a:solidFill>
            <a:srgbClr val="21D4B4"/>
          </a:solidFill>
          <a:ln/>
        </p:spPr>
      </p:sp>
      <p:pic>
        <p:nvPicPr>
          <p:cNvPr id="6" name="Image 0" descr="/home/claude/proofpass/icons/cub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26187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14884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On-Chain NFT Minting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502920" y="320040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C7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CIP-25 compliant NFT is minted on the Cardano Preprod Testnet, permanently binding the recipient's identity, course, and the certificate's exact file hash to the chain.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02920" y="5074920"/>
            <a:ext cx="301752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52120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D4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CIP-25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502920" y="57607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Cardano native NFT metadata standard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754880" y="777240"/>
            <a:ext cx="6888175" cy="1170432"/>
          </a:xfrm>
          <a:prstGeom prst="roundRect">
            <a:avLst>
              <a:gd name="adj" fmla="val 6250"/>
            </a:avLst>
          </a:prstGeom>
          <a:solidFill>
            <a:srgbClr val="F5F7FA"/>
          </a:solidFill>
          <a:ln/>
        </p:spPr>
      </p:sp>
      <p:sp>
        <p:nvSpPr>
          <p:cNvPr id="13" name="Shape 10"/>
          <p:cNvSpPr/>
          <p:nvPr/>
        </p:nvSpPr>
        <p:spPr>
          <a:xfrm>
            <a:off x="4983480" y="996696"/>
            <a:ext cx="731520" cy="731520"/>
          </a:xfrm>
          <a:prstGeom prst="ellipse">
            <a:avLst/>
          </a:prstGeom>
          <a:solidFill>
            <a:srgbClr val="0A1F44"/>
          </a:solidFill>
          <a:ln/>
        </p:spPr>
      </p:sp>
      <p:pic>
        <p:nvPicPr>
          <p:cNvPr id="14" name="Image 1" descr="/home/claude/proofpass/icons/fingerprint_mi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7216" y="1170432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897880" y="905256"/>
            <a:ext cx="56994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Hash Binding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5897880" y="1261872"/>
            <a:ext cx="56994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certificate's cryptographic fingerprint is written directly into NFT metadata.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754880" y="2148840"/>
            <a:ext cx="6888175" cy="1170432"/>
          </a:xfrm>
          <a:prstGeom prst="roundRect">
            <a:avLst>
              <a:gd name="adj" fmla="val 6250"/>
            </a:avLst>
          </a:prstGeom>
          <a:solidFill>
            <a:srgbClr val="F5F7FA"/>
          </a:solidFill>
          <a:ln/>
        </p:spPr>
      </p:sp>
      <p:sp>
        <p:nvSpPr>
          <p:cNvPr id="18" name="Shape 14"/>
          <p:cNvSpPr/>
          <p:nvPr/>
        </p:nvSpPr>
        <p:spPr>
          <a:xfrm>
            <a:off x="4983480" y="2368296"/>
            <a:ext cx="731520" cy="731520"/>
          </a:xfrm>
          <a:prstGeom prst="ellipse">
            <a:avLst/>
          </a:prstGeom>
          <a:solidFill>
            <a:srgbClr val="0A1F44"/>
          </a:solidFill>
          <a:ln/>
        </p:spPr>
      </p:sp>
      <p:pic>
        <p:nvPicPr>
          <p:cNvPr id="19" name="Image 2" descr="/home/claude/proofpass/icons/wallet_m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7216" y="2542032"/>
            <a:ext cx="384048" cy="38404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897880" y="2276856"/>
            <a:ext cx="56994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 SDK Wallet Flow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5897880" y="2633472"/>
            <a:ext cx="56994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Issuers connect a Cardano wallet and sign the minting transaction through Mesh.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754880" y="3520440"/>
            <a:ext cx="6888175" cy="1170432"/>
          </a:xfrm>
          <a:prstGeom prst="roundRect">
            <a:avLst>
              <a:gd name="adj" fmla="val 6250"/>
            </a:avLst>
          </a:prstGeom>
          <a:solidFill>
            <a:srgbClr val="F5F7FA"/>
          </a:solidFill>
          <a:ln/>
        </p:spPr>
      </p:sp>
      <p:sp>
        <p:nvSpPr>
          <p:cNvPr id="23" name="Shape 18"/>
          <p:cNvSpPr/>
          <p:nvPr/>
        </p:nvSpPr>
        <p:spPr>
          <a:xfrm>
            <a:off x="4983480" y="3739896"/>
            <a:ext cx="731520" cy="731520"/>
          </a:xfrm>
          <a:prstGeom prst="ellipse">
            <a:avLst/>
          </a:prstGeom>
          <a:solidFill>
            <a:srgbClr val="0A1F44"/>
          </a:solidFill>
          <a:ln/>
        </p:spPr>
      </p:sp>
      <p:pic>
        <p:nvPicPr>
          <p:cNvPr id="24" name="Image 3" descr="/home/claude/proofpass/icons/server_mi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7216" y="3913632"/>
            <a:ext cx="384048" cy="38404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897880" y="3648456"/>
            <a:ext cx="56994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Blockfrost as Chain Provider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5897880" y="4005072"/>
            <a:ext cx="56994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Submits transactions and queries chain state without running a full node.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4754880" y="4892040"/>
            <a:ext cx="6888175" cy="1170432"/>
          </a:xfrm>
          <a:prstGeom prst="roundRect">
            <a:avLst>
              <a:gd name="adj" fmla="val 6250"/>
            </a:avLst>
          </a:prstGeom>
          <a:solidFill>
            <a:srgbClr val="F5F7FA"/>
          </a:solidFill>
          <a:ln/>
        </p:spPr>
      </p:sp>
      <p:sp>
        <p:nvSpPr>
          <p:cNvPr id="28" name="Shape 22"/>
          <p:cNvSpPr/>
          <p:nvPr/>
        </p:nvSpPr>
        <p:spPr>
          <a:xfrm>
            <a:off x="4983480" y="5111496"/>
            <a:ext cx="731520" cy="731520"/>
          </a:xfrm>
          <a:prstGeom prst="ellipse">
            <a:avLst/>
          </a:prstGeom>
          <a:solidFill>
            <a:srgbClr val="0A1F44"/>
          </a:solidFill>
          <a:ln/>
        </p:spPr>
      </p:sp>
      <p:pic>
        <p:nvPicPr>
          <p:cNvPr id="29" name="Image 4" descr="/home/claude/proofpass/icons/lock_min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7216" y="5285232"/>
            <a:ext cx="384048" cy="38404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897880" y="5020056"/>
            <a:ext cx="56994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Record</a:t>
            </a:r>
            <a:endParaRPr lang="en-US" sz="1400" dirty="0"/>
          </a:p>
        </p:txBody>
      </p:sp>
      <p:sp>
        <p:nvSpPr>
          <p:cNvPr id="31" name="Text 24"/>
          <p:cNvSpPr/>
          <p:nvPr/>
        </p:nvSpPr>
        <p:spPr>
          <a:xfrm>
            <a:off x="5897880" y="5376672"/>
            <a:ext cx="56994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minted, the credential's core facts can never be altered or deleted.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0" y="4846320"/>
            <a:ext cx="2926080" cy="2926080"/>
          </a:xfrm>
          <a:prstGeom prst="ellipse">
            <a:avLst/>
          </a:prstGeom>
          <a:solidFill>
            <a:srgbClr val="132A5E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5486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1D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04 · TRUST LAYER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051560"/>
            <a:ext cx="914400" cy="914400"/>
          </a:xfrm>
          <a:prstGeom prst="ellipse">
            <a:avLst/>
          </a:prstGeom>
          <a:solidFill>
            <a:srgbClr val="21D4B4"/>
          </a:solidFill>
          <a:ln/>
        </p:spPr>
      </p:sp>
      <p:pic>
        <p:nvPicPr>
          <p:cNvPr id="6" name="Image 0" descr="/home/claude/proofpass/icons/search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26187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14884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Instant Verification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502920" y="320040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C7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Recruiters upload a PDF or search by shortcode. Proofpass recomputes the SHA-256 hash and checks it against the on-chain registry — no calls, no emails, no waiting.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02920" y="5074920"/>
            <a:ext cx="301752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52120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D4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calls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502920" y="57607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 or phone calls needed to confirm authenticity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754880" y="777240"/>
            <a:ext cx="6888175" cy="1170432"/>
          </a:xfrm>
          <a:prstGeom prst="roundRect">
            <a:avLst>
              <a:gd name="adj" fmla="val 6250"/>
            </a:avLst>
          </a:prstGeom>
          <a:solidFill>
            <a:srgbClr val="F5F7FA"/>
          </a:solidFill>
          <a:ln/>
        </p:spPr>
      </p:sp>
      <p:sp>
        <p:nvSpPr>
          <p:cNvPr id="13" name="Shape 10"/>
          <p:cNvSpPr/>
          <p:nvPr/>
        </p:nvSpPr>
        <p:spPr>
          <a:xfrm>
            <a:off x="4983480" y="996696"/>
            <a:ext cx="731520" cy="731520"/>
          </a:xfrm>
          <a:prstGeom prst="ellipse">
            <a:avLst/>
          </a:prstGeom>
          <a:solidFill>
            <a:srgbClr val="0A1F44"/>
          </a:solidFill>
          <a:ln/>
        </p:spPr>
      </p:sp>
      <p:pic>
        <p:nvPicPr>
          <p:cNvPr id="14" name="Image 1" descr="/home/claude/proofpass/icons/upload_mi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7216" y="1170432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897880" y="905256"/>
            <a:ext cx="56994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Upload-to-Verify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5897880" y="1261872"/>
            <a:ext cx="56994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the same certificate file in; the portal hashes it client- or server-side.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754880" y="2148840"/>
            <a:ext cx="6888175" cy="1170432"/>
          </a:xfrm>
          <a:prstGeom prst="roundRect">
            <a:avLst>
              <a:gd name="adj" fmla="val 6250"/>
            </a:avLst>
          </a:prstGeom>
          <a:solidFill>
            <a:srgbClr val="F5F7FA"/>
          </a:solidFill>
          <a:ln/>
        </p:spPr>
      </p:sp>
      <p:sp>
        <p:nvSpPr>
          <p:cNvPr id="18" name="Shape 14"/>
          <p:cNvSpPr/>
          <p:nvPr/>
        </p:nvSpPr>
        <p:spPr>
          <a:xfrm>
            <a:off x="4983480" y="2368296"/>
            <a:ext cx="731520" cy="731520"/>
          </a:xfrm>
          <a:prstGeom prst="ellipse">
            <a:avLst/>
          </a:prstGeom>
          <a:solidFill>
            <a:srgbClr val="0A1F44"/>
          </a:solidFill>
          <a:ln/>
        </p:spPr>
      </p:sp>
      <p:pic>
        <p:nvPicPr>
          <p:cNvPr id="19" name="Image 2" descr="/home/claude/proofpass/icons/fingerprint_m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7216" y="2542032"/>
            <a:ext cx="384048" cy="38404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897880" y="2276856"/>
            <a:ext cx="56994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Comparison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5897880" y="2633472"/>
            <a:ext cx="56994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computed SHA-256 hash is matched against the credential recorded on-chain.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754880" y="3520440"/>
            <a:ext cx="6888175" cy="1170432"/>
          </a:xfrm>
          <a:prstGeom prst="roundRect">
            <a:avLst>
              <a:gd name="adj" fmla="val 6250"/>
            </a:avLst>
          </a:prstGeom>
          <a:solidFill>
            <a:srgbClr val="F5F7FA"/>
          </a:solidFill>
          <a:ln/>
        </p:spPr>
      </p:sp>
      <p:sp>
        <p:nvSpPr>
          <p:cNvPr id="23" name="Shape 18"/>
          <p:cNvSpPr/>
          <p:nvPr/>
        </p:nvSpPr>
        <p:spPr>
          <a:xfrm>
            <a:off x="4983480" y="3739896"/>
            <a:ext cx="731520" cy="731520"/>
          </a:xfrm>
          <a:prstGeom prst="ellipse">
            <a:avLst/>
          </a:prstGeom>
          <a:solidFill>
            <a:srgbClr val="0A1F44"/>
          </a:solidFill>
          <a:ln/>
        </p:spPr>
      </p:sp>
      <p:pic>
        <p:nvPicPr>
          <p:cNvPr id="24" name="Image 3" descr="/home/claude/proofpass/icons/search_mi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7216" y="3913632"/>
            <a:ext cx="384048" cy="38404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897880" y="3648456"/>
            <a:ext cx="56994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Shortcode Lookup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5897880" y="4005072"/>
            <a:ext cx="56994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Alternatively, search by a short credential code shared by the issuer or candidate.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4754880" y="4892040"/>
            <a:ext cx="6888175" cy="1170432"/>
          </a:xfrm>
          <a:prstGeom prst="roundRect">
            <a:avLst>
              <a:gd name="adj" fmla="val 6250"/>
            </a:avLst>
          </a:prstGeom>
          <a:solidFill>
            <a:srgbClr val="F5F7FA"/>
          </a:solidFill>
          <a:ln/>
        </p:spPr>
      </p:sp>
      <p:sp>
        <p:nvSpPr>
          <p:cNvPr id="28" name="Shape 22"/>
          <p:cNvSpPr/>
          <p:nvPr/>
        </p:nvSpPr>
        <p:spPr>
          <a:xfrm>
            <a:off x="4983480" y="5111496"/>
            <a:ext cx="731520" cy="731520"/>
          </a:xfrm>
          <a:prstGeom prst="ellipse">
            <a:avLst/>
          </a:prstGeom>
          <a:solidFill>
            <a:srgbClr val="0A1F44"/>
          </a:solidFill>
          <a:ln/>
        </p:spPr>
      </p:sp>
      <p:pic>
        <p:nvPicPr>
          <p:cNvPr id="29" name="Image 4" descr="/home/claude/proofpass/icons/check_min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7216" y="5285232"/>
            <a:ext cx="384048" cy="38404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897880" y="5020056"/>
            <a:ext cx="56994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/ Fail Result</a:t>
            </a:r>
            <a:endParaRPr lang="en-US" sz="1400" dirty="0"/>
          </a:p>
        </p:txBody>
      </p:sp>
      <p:sp>
        <p:nvSpPr>
          <p:cNvPr id="31" name="Text 24"/>
          <p:cNvSpPr/>
          <p:nvPr/>
        </p:nvSpPr>
        <p:spPr>
          <a:xfrm>
            <a:off x="5897880" y="5376672"/>
            <a:ext cx="56994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an unambiguous authenticity result in real time, backed by the Cardano ledger.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on proven, production-grade tools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02152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A1F44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221992"/>
            <a:ext cx="621792" cy="621792"/>
          </a:xfrm>
          <a:prstGeom prst="ellipse">
            <a:avLst/>
          </a:prstGeom>
          <a:solidFill>
            <a:srgbClr val="0A1F44"/>
          </a:solidFill>
          <a:ln/>
        </p:spPr>
      </p:sp>
      <p:pic>
        <p:nvPicPr>
          <p:cNvPr id="6" name="Image 0" descr="/home/claude/proofpass/icons/cube_mi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377440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6112" y="2953512"/>
            <a:ext cx="2990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896112" y="3209544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A1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Cardano Preprod Testnet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96112" y="3703320"/>
            <a:ext cx="2990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Layer-1 chain hosting the credential NFTs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462272" y="1965960"/>
            <a:ext cx="3502152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A1F44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18304" y="2221992"/>
            <a:ext cx="621792" cy="621792"/>
          </a:xfrm>
          <a:prstGeom prst="ellipse">
            <a:avLst/>
          </a:prstGeom>
          <a:solidFill>
            <a:srgbClr val="0A1F44"/>
          </a:solidFill>
          <a:ln/>
        </p:spPr>
      </p:sp>
      <p:pic>
        <p:nvPicPr>
          <p:cNvPr id="12" name="Image 1" descr="/home/claude/proofpass/icons/wallet_mi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752" y="2377440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18304" y="2953512"/>
            <a:ext cx="2990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WEB3 INTEGRATION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4718304" y="3209544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A1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Mesh SDK &amp; Blockfrost API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4718304" y="3703320"/>
            <a:ext cx="2990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connection &amp; chain data provider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8284464" y="1965960"/>
            <a:ext cx="3502152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A1F44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540496" y="2221992"/>
            <a:ext cx="621792" cy="621792"/>
          </a:xfrm>
          <a:prstGeom prst="ellipse">
            <a:avLst/>
          </a:prstGeom>
          <a:solidFill>
            <a:srgbClr val="0A1F44"/>
          </a:solidFill>
          <a:ln/>
        </p:spPr>
      </p:sp>
      <p:pic>
        <p:nvPicPr>
          <p:cNvPr id="18" name="Image 2" descr="/home/claude/proofpass/icons/robot_m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5944" y="2377440"/>
            <a:ext cx="310896" cy="31089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540496" y="2953512"/>
            <a:ext cx="2990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FORGERY ENGINE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8540496" y="3209544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A1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Gemini 2.5 Flash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8540496" y="3703320"/>
            <a:ext cx="2990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parsing &amp; field extraction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640080" y="4434840"/>
            <a:ext cx="3502152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A1F44">
                <a:alpha val="1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96112" y="4690872"/>
            <a:ext cx="621792" cy="621792"/>
          </a:xfrm>
          <a:prstGeom prst="ellipse">
            <a:avLst/>
          </a:prstGeom>
          <a:solidFill>
            <a:srgbClr val="0A1F44"/>
          </a:solidFill>
          <a:ln/>
        </p:spPr>
      </p:sp>
      <p:pic>
        <p:nvPicPr>
          <p:cNvPr id="24" name="Image 3" descr="/home/claude/proofpass/icons/upload_mi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4846320"/>
            <a:ext cx="310896" cy="31089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96112" y="5422392"/>
            <a:ext cx="2990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DECENTRALIZED STORAGE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896112" y="5678424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A1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IPFS via Pinata SDK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896112" y="6172200"/>
            <a:ext cx="2990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off-chain file archiving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4462272" y="4434840"/>
            <a:ext cx="3502152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A1F44">
                <a:alpha val="1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718304" y="4690872"/>
            <a:ext cx="621792" cy="621792"/>
          </a:xfrm>
          <a:prstGeom prst="ellipse">
            <a:avLst/>
          </a:prstGeom>
          <a:solidFill>
            <a:srgbClr val="0A1F44"/>
          </a:solidFill>
          <a:ln/>
        </p:spPr>
      </p:sp>
      <p:pic>
        <p:nvPicPr>
          <p:cNvPr id="30" name="Image 4" descr="/home/claude/proofpass/icons/database_min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3752" y="4846320"/>
            <a:ext cx="310896" cy="310896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4718304" y="5422392"/>
            <a:ext cx="2990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DATABASE</a:t>
            </a:r>
            <a:endParaRPr lang="en-US" sz="950" dirty="0"/>
          </a:p>
        </p:txBody>
      </p:sp>
      <p:sp>
        <p:nvSpPr>
          <p:cNvPr id="32" name="Text 25"/>
          <p:cNvSpPr/>
          <p:nvPr/>
        </p:nvSpPr>
        <p:spPr>
          <a:xfrm>
            <a:off x="4718304" y="5678424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A1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SQLite + Prisma ORM</a:t>
            </a:r>
            <a:endParaRPr lang="en-US" sz="1450" dirty="0"/>
          </a:p>
        </p:txBody>
      </p:sp>
      <p:sp>
        <p:nvSpPr>
          <p:cNvPr id="33" name="Text 26"/>
          <p:cNvSpPr/>
          <p:nvPr/>
        </p:nvSpPr>
        <p:spPr>
          <a:xfrm>
            <a:off x="4718304" y="6172200"/>
            <a:ext cx="2990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metadata &amp; credential index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8284464" y="4434840"/>
            <a:ext cx="3502152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A1F44">
                <a:alpha val="18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8540496" y="4690872"/>
            <a:ext cx="621792" cy="621792"/>
          </a:xfrm>
          <a:prstGeom prst="ellipse">
            <a:avLst/>
          </a:prstGeom>
          <a:solidFill>
            <a:srgbClr val="0A1F44"/>
          </a:solidFill>
          <a:ln/>
        </p:spPr>
      </p:sp>
      <p:pic>
        <p:nvPicPr>
          <p:cNvPr id="36" name="Image 5" descr="/home/claude/proofpass/icons/code_min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95944" y="4846320"/>
            <a:ext cx="310896" cy="310896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8540496" y="5422392"/>
            <a:ext cx="2990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FRAMEWORK</a:t>
            </a:r>
            <a:endParaRPr lang="en-US" sz="950" dirty="0"/>
          </a:p>
        </p:txBody>
      </p:sp>
      <p:sp>
        <p:nvSpPr>
          <p:cNvPr id="38" name="Text 30"/>
          <p:cNvSpPr/>
          <p:nvPr/>
        </p:nvSpPr>
        <p:spPr>
          <a:xfrm>
            <a:off x="8540496" y="5678424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A1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Next.js 16</a:t>
            </a:r>
            <a:endParaRPr lang="en-US" sz="1450" dirty="0"/>
          </a:p>
        </p:txBody>
      </p:sp>
      <p:sp>
        <p:nvSpPr>
          <p:cNvPr id="39" name="Text 31"/>
          <p:cNvSpPr/>
          <p:nvPr/>
        </p:nvSpPr>
        <p:spPr>
          <a:xfrm>
            <a:off x="8540496" y="6172200"/>
            <a:ext cx="2990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Router · TypeScript · Tailwind/CSS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EXPERIENCE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issuers &amp; recruiters actually see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12080" cy="4434840"/>
          </a:xfrm>
          <a:prstGeom prst="roundRect">
            <a:avLst>
              <a:gd name="adj" fmla="val 1237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F44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00200"/>
            <a:ext cx="5212080" cy="347472"/>
          </a:xfrm>
          <a:prstGeom prst="roundRect">
            <a:avLst>
              <a:gd name="adj" fmla="val 15789"/>
            </a:avLst>
          </a:prstGeom>
          <a:solidFill>
            <a:srgbClr val="F5F7FA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1728216"/>
            <a:ext cx="91440" cy="91440"/>
          </a:xfrm>
          <a:prstGeom prst="ellipse">
            <a:avLst/>
          </a:prstGeom>
          <a:solidFill>
            <a:srgbClr val="E86E5C"/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" y="1728216"/>
            <a:ext cx="91440" cy="91440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8" name="Shape 6"/>
          <p:cNvSpPr/>
          <p:nvPr/>
        </p:nvSpPr>
        <p:spPr>
          <a:xfrm>
            <a:off x="1207008" y="1728216"/>
            <a:ext cx="91440" cy="91440"/>
          </a:xfrm>
          <a:prstGeom prst="ellipse">
            <a:avLst/>
          </a:prstGeom>
          <a:solidFill>
            <a:srgbClr val="3FB07F"/>
          </a:solidFill>
          <a:ln/>
        </p:spPr>
      </p:sp>
      <p:sp>
        <p:nvSpPr>
          <p:cNvPr id="9" name="Text 7"/>
          <p:cNvSpPr/>
          <p:nvPr/>
        </p:nvSpPr>
        <p:spPr>
          <a:xfrm>
            <a:off x="1463040" y="167335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localhost:3000/dashboard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40080" y="1947672"/>
            <a:ext cx="1280160" cy="4087368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11" name="Shape 9"/>
          <p:cNvSpPr/>
          <p:nvPr/>
        </p:nvSpPr>
        <p:spPr>
          <a:xfrm>
            <a:off x="960120" y="2194560"/>
            <a:ext cx="365760" cy="365760"/>
          </a:xfrm>
          <a:prstGeom prst="ellipse">
            <a:avLst/>
          </a:prstGeom>
          <a:solidFill>
            <a:srgbClr val="21D4B4"/>
          </a:solidFill>
          <a:ln/>
        </p:spPr>
      </p:sp>
      <p:pic>
        <p:nvPicPr>
          <p:cNvPr id="12" name="Image 0" descr="/home/claude/proofpass/icons/cub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286000"/>
            <a:ext cx="182880" cy="18288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960120" y="2880360"/>
            <a:ext cx="365760" cy="365760"/>
          </a:xfrm>
          <a:prstGeom prst="ellipse">
            <a:avLst/>
          </a:prstGeom>
          <a:solidFill>
            <a:srgbClr val="132A5E"/>
          </a:solidFill>
          <a:ln/>
        </p:spPr>
      </p:sp>
      <p:pic>
        <p:nvPicPr>
          <p:cNvPr id="14" name="Image 1" descr="/home/claude/proofpass/icons/upload_mi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971800"/>
            <a:ext cx="182880" cy="18288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960120" y="3566160"/>
            <a:ext cx="365760" cy="365760"/>
          </a:xfrm>
          <a:prstGeom prst="ellipse">
            <a:avLst/>
          </a:prstGeom>
          <a:solidFill>
            <a:srgbClr val="132A5E"/>
          </a:solidFill>
          <a:ln/>
        </p:spPr>
      </p:sp>
      <p:pic>
        <p:nvPicPr>
          <p:cNvPr id="16" name="Image 2" descr="/home/claude/proofpass/icons/search_m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3657600"/>
            <a:ext cx="182880" cy="1828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960120" y="4251960"/>
            <a:ext cx="365760" cy="365760"/>
          </a:xfrm>
          <a:prstGeom prst="ellipse">
            <a:avLst/>
          </a:prstGeom>
          <a:solidFill>
            <a:srgbClr val="132A5E"/>
          </a:solidFill>
          <a:ln/>
        </p:spPr>
      </p:sp>
      <p:pic>
        <p:nvPicPr>
          <p:cNvPr id="18" name="Image 3" descr="/home/claude/proofpass/icons/database_mi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4343400"/>
            <a:ext cx="182880" cy="18288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2148840" y="2167128"/>
            <a:ext cx="1078992" cy="777240"/>
          </a:xfrm>
          <a:prstGeom prst="roundRect">
            <a:avLst>
              <a:gd name="adj" fmla="val 7059"/>
            </a:avLst>
          </a:prstGeom>
          <a:solidFill>
            <a:srgbClr val="F5F7FA"/>
          </a:solidFill>
          <a:ln/>
        </p:spPr>
      </p:sp>
      <p:sp>
        <p:nvSpPr>
          <p:cNvPr id="20" name="Text 14"/>
          <p:cNvSpPr/>
          <p:nvPr/>
        </p:nvSpPr>
        <p:spPr>
          <a:xfrm>
            <a:off x="2240280" y="222199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1,204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2240280" y="25877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</a:t>
            </a:r>
            <a:endParaRPr lang="en-US" sz="800" dirty="0"/>
          </a:p>
        </p:txBody>
      </p:sp>
      <p:sp>
        <p:nvSpPr>
          <p:cNvPr id="22" name="Shape 16"/>
          <p:cNvSpPr/>
          <p:nvPr/>
        </p:nvSpPr>
        <p:spPr>
          <a:xfrm>
            <a:off x="3355848" y="2167128"/>
            <a:ext cx="1078992" cy="777240"/>
          </a:xfrm>
          <a:prstGeom prst="roundRect">
            <a:avLst>
              <a:gd name="adj" fmla="val 7059"/>
            </a:avLst>
          </a:prstGeom>
          <a:solidFill>
            <a:srgbClr val="F5F7FA"/>
          </a:solidFill>
          <a:ln/>
        </p:spPr>
      </p:sp>
      <p:sp>
        <p:nvSpPr>
          <p:cNvPr id="23" name="Text 17"/>
          <p:cNvSpPr/>
          <p:nvPr/>
        </p:nvSpPr>
        <p:spPr>
          <a:xfrm>
            <a:off x="3447288" y="222199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987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3447288" y="25877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800" dirty="0"/>
          </a:p>
        </p:txBody>
      </p:sp>
      <p:sp>
        <p:nvSpPr>
          <p:cNvPr id="25" name="Shape 19"/>
          <p:cNvSpPr/>
          <p:nvPr/>
        </p:nvSpPr>
        <p:spPr>
          <a:xfrm>
            <a:off x="4562856" y="2167128"/>
            <a:ext cx="1078992" cy="777240"/>
          </a:xfrm>
          <a:prstGeom prst="roundRect">
            <a:avLst>
              <a:gd name="adj" fmla="val 7059"/>
            </a:avLst>
          </a:prstGeom>
          <a:solidFill>
            <a:srgbClr val="F5F7FA"/>
          </a:solidFill>
          <a:ln/>
        </p:spPr>
      </p:sp>
      <p:sp>
        <p:nvSpPr>
          <p:cNvPr id="26" name="Text 20"/>
          <p:cNvSpPr/>
          <p:nvPr/>
        </p:nvSpPr>
        <p:spPr>
          <a:xfrm>
            <a:off x="4654296" y="222199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4654296" y="25877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800" dirty="0"/>
          </a:p>
        </p:txBody>
      </p:sp>
      <p:sp>
        <p:nvSpPr>
          <p:cNvPr id="28" name="Shape 22"/>
          <p:cNvSpPr/>
          <p:nvPr/>
        </p:nvSpPr>
        <p:spPr>
          <a:xfrm>
            <a:off x="2148840" y="3108960"/>
            <a:ext cx="3474720" cy="45720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/>
        </p:spPr>
      </p:sp>
      <p:sp>
        <p:nvSpPr>
          <p:cNvPr id="29" name="Shape 23"/>
          <p:cNvSpPr/>
          <p:nvPr/>
        </p:nvSpPr>
        <p:spPr>
          <a:xfrm>
            <a:off x="2258568" y="3218688"/>
            <a:ext cx="237744" cy="23774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0" name="Text 24"/>
          <p:cNvSpPr/>
          <p:nvPr/>
        </p:nvSpPr>
        <p:spPr>
          <a:xfrm>
            <a:off x="2606040" y="3191256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3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Candidate_1.pdf   •   Web Development Bootcamp</a:t>
            </a:r>
            <a:endParaRPr lang="en-US" sz="850" dirty="0"/>
          </a:p>
        </p:txBody>
      </p:sp>
      <p:sp>
        <p:nvSpPr>
          <p:cNvPr id="31" name="Text 25"/>
          <p:cNvSpPr/>
          <p:nvPr/>
        </p:nvSpPr>
        <p:spPr>
          <a:xfrm>
            <a:off x="4937760" y="32004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8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Minted</a:t>
            </a:r>
            <a:endParaRPr lang="en-US" sz="800" dirty="0"/>
          </a:p>
        </p:txBody>
      </p:sp>
      <p:sp>
        <p:nvSpPr>
          <p:cNvPr id="32" name="Shape 26"/>
          <p:cNvSpPr/>
          <p:nvPr/>
        </p:nvSpPr>
        <p:spPr>
          <a:xfrm>
            <a:off x="2148840" y="3675888"/>
            <a:ext cx="34747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33" name="Shape 27"/>
          <p:cNvSpPr/>
          <p:nvPr/>
        </p:nvSpPr>
        <p:spPr>
          <a:xfrm>
            <a:off x="2258568" y="3785616"/>
            <a:ext cx="237744" cy="23774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4" name="Text 28"/>
          <p:cNvSpPr/>
          <p:nvPr/>
        </p:nvSpPr>
        <p:spPr>
          <a:xfrm>
            <a:off x="2606040" y="3758184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3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Candidate_2.pdf   •   Web Development Bootcamp</a:t>
            </a:r>
            <a:endParaRPr lang="en-US" sz="850" dirty="0"/>
          </a:p>
        </p:txBody>
      </p:sp>
      <p:sp>
        <p:nvSpPr>
          <p:cNvPr id="35" name="Text 29"/>
          <p:cNvSpPr/>
          <p:nvPr/>
        </p:nvSpPr>
        <p:spPr>
          <a:xfrm>
            <a:off x="4937760" y="37673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8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Minted</a:t>
            </a:r>
            <a:endParaRPr lang="en-US" sz="800" dirty="0"/>
          </a:p>
        </p:txBody>
      </p:sp>
      <p:sp>
        <p:nvSpPr>
          <p:cNvPr id="36" name="Shape 30"/>
          <p:cNvSpPr/>
          <p:nvPr/>
        </p:nvSpPr>
        <p:spPr>
          <a:xfrm>
            <a:off x="2148840" y="4242816"/>
            <a:ext cx="3474720" cy="45720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/>
        </p:spPr>
      </p:sp>
      <p:sp>
        <p:nvSpPr>
          <p:cNvPr id="37" name="Shape 31"/>
          <p:cNvSpPr/>
          <p:nvPr/>
        </p:nvSpPr>
        <p:spPr>
          <a:xfrm>
            <a:off x="2258568" y="4352544"/>
            <a:ext cx="237744" cy="23774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8" name="Text 32"/>
          <p:cNvSpPr/>
          <p:nvPr/>
        </p:nvSpPr>
        <p:spPr>
          <a:xfrm>
            <a:off x="2606040" y="432511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3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Candidate_3.pdf   •   Web Development Bootcamp</a:t>
            </a:r>
            <a:endParaRPr lang="en-US" sz="850" dirty="0"/>
          </a:p>
        </p:txBody>
      </p:sp>
      <p:sp>
        <p:nvSpPr>
          <p:cNvPr id="39" name="Text 33"/>
          <p:cNvSpPr/>
          <p:nvPr/>
        </p:nvSpPr>
        <p:spPr>
          <a:xfrm>
            <a:off x="4937760" y="4334256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8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Minted</a:t>
            </a:r>
            <a:endParaRPr lang="en-US" sz="800" dirty="0"/>
          </a:p>
        </p:txBody>
      </p:sp>
      <p:sp>
        <p:nvSpPr>
          <p:cNvPr id="40" name="Shape 34"/>
          <p:cNvSpPr/>
          <p:nvPr/>
        </p:nvSpPr>
        <p:spPr>
          <a:xfrm>
            <a:off x="2148840" y="4809744"/>
            <a:ext cx="34747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41" name="Shape 35"/>
          <p:cNvSpPr/>
          <p:nvPr/>
        </p:nvSpPr>
        <p:spPr>
          <a:xfrm>
            <a:off x="2258568" y="4919472"/>
            <a:ext cx="237744" cy="23774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2" name="Text 36"/>
          <p:cNvSpPr/>
          <p:nvPr/>
        </p:nvSpPr>
        <p:spPr>
          <a:xfrm>
            <a:off x="2606040" y="489204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3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Candidate_4.pdf   •   Web Development Bootcamp</a:t>
            </a:r>
            <a:endParaRPr lang="en-US" sz="850" dirty="0"/>
          </a:p>
        </p:txBody>
      </p:sp>
      <p:sp>
        <p:nvSpPr>
          <p:cNvPr id="43" name="Text 37"/>
          <p:cNvSpPr/>
          <p:nvPr/>
        </p:nvSpPr>
        <p:spPr>
          <a:xfrm>
            <a:off x="4937760" y="4901184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8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Minted</a:t>
            </a:r>
            <a:endParaRPr lang="en-US" sz="800" dirty="0"/>
          </a:p>
        </p:txBody>
      </p:sp>
      <p:sp>
        <p:nvSpPr>
          <p:cNvPr id="44" name="Text 38"/>
          <p:cNvSpPr/>
          <p:nvPr/>
        </p:nvSpPr>
        <p:spPr>
          <a:xfrm>
            <a:off x="640080" y="61722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Issuer Dashboard</a:t>
            </a:r>
            <a:endParaRPr lang="en-US" sz="1300" dirty="0"/>
          </a:p>
        </p:txBody>
      </p:sp>
      <p:sp>
        <p:nvSpPr>
          <p:cNvPr id="45" name="Shape 39"/>
          <p:cNvSpPr/>
          <p:nvPr/>
        </p:nvSpPr>
        <p:spPr>
          <a:xfrm>
            <a:off x="6263640" y="1600200"/>
            <a:ext cx="5257800" cy="4434840"/>
          </a:xfrm>
          <a:prstGeom prst="roundRect">
            <a:avLst>
              <a:gd name="adj" fmla="val 1237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F44">
                <a:alpha val="18000"/>
              </a:srgbClr>
            </a:outerShdw>
          </a:effectLst>
        </p:spPr>
      </p:sp>
      <p:sp>
        <p:nvSpPr>
          <p:cNvPr id="46" name="Shape 40"/>
          <p:cNvSpPr/>
          <p:nvPr/>
        </p:nvSpPr>
        <p:spPr>
          <a:xfrm>
            <a:off x="6263640" y="1600200"/>
            <a:ext cx="5257800" cy="347472"/>
          </a:xfrm>
          <a:prstGeom prst="roundRect">
            <a:avLst>
              <a:gd name="adj" fmla="val 15789"/>
            </a:avLst>
          </a:prstGeom>
          <a:solidFill>
            <a:srgbClr val="F5F7FA"/>
          </a:solidFill>
          <a:ln/>
        </p:spPr>
      </p:sp>
      <p:sp>
        <p:nvSpPr>
          <p:cNvPr id="47" name="Shape 41"/>
          <p:cNvSpPr/>
          <p:nvPr/>
        </p:nvSpPr>
        <p:spPr>
          <a:xfrm>
            <a:off x="6428232" y="1728216"/>
            <a:ext cx="91440" cy="91440"/>
          </a:xfrm>
          <a:prstGeom prst="ellipse">
            <a:avLst/>
          </a:prstGeom>
          <a:solidFill>
            <a:srgbClr val="E86E5C"/>
          </a:solidFill>
          <a:ln/>
        </p:spPr>
      </p:sp>
      <p:sp>
        <p:nvSpPr>
          <p:cNvPr id="48" name="Shape 42"/>
          <p:cNvSpPr/>
          <p:nvPr/>
        </p:nvSpPr>
        <p:spPr>
          <a:xfrm>
            <a:off x="6629400" y="1728216"/>
            <a:ext cx="91440" cy="91440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49" name="Shape 43"/>
          <p:cNvSpPr/>
          <p:nvPr/>
        </p:nvSpPr>
        <p:spPr>
          <a:xfrm>
            <a:off x="6830568" y="1728216"/>
            <a:ext cx="91440" cy="91440"/>
          </a:xfrm>
          <a:prstGeom prst="ellipse">
            <a:avLst/>
          </a:prstGeom>
          <a:solidFill>
            <a:srgbClr val="3FB07F"/>
          </a:solidFill>
          <a:ln/>
        </p:spPr>
      </p:sp>
      <p:sp>
        <p:nvSpPr>
          <p:cNvPr id="50" name="Shape 44"/>
          <p:cNvSpPr/>
          <p:nvPr/>
        </p:nvSpPr>
        <p:spPr>
          <a:xfrm>
            <a:off x="6611112" y="1947672"/>
            <a:ext cx="4562856" cy="3739896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51" name="Shape 45"/>
          <p:cNvSpPr/>
          <p:nvPr/>
        </p:nvSpPr>
        <p:spPr>
          <a:xfrm>
            <a:off x="7475220" y="2423160"/>
            <a:ext cx="2834640" cy="310896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F44">
                <a:alpha val="18000"/>
              </a:srgbClr>
            </a:outerShdw>
          </a:effectLst>
        </p:spPr>
      </p:sp>
      <p:sp>
        <p:nvSpPr>
          <p:cNvPr id="52" name="Shape 46"/>
          <p:cNvSpPr/>
          <p:nvPr/>
        </p:nvSpPr>
        <p:spPr>
          <a:xfrm>
            <a:off x="8599932" y="2697480"/>
            <a:ext cx="585216" cy="585216"/>
          </a:xfrm>
          <a:prstGeom prst="ellipse">
            <a:avLst/>
          </a:prstGeom>
          <a:solidFill>
            <a:srgbClr val="0A1F44"/>
          </a:solidFill>
          <a:ln/>
        </p:spPr>
      </p:sp>
      <p:pic>
        <p:nvPicPr>
          <p:cNvPr id="53" name="Image 4" descr="/home/claude/proofpass/icons/wallet_min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7092" y="2834640"/>
            <a:ext cx="310896" cy="310896"/>
          </a:xfrm>
          <a:prstGeom prst="rect">
            <a:avLst/>
          </a:prstGeom>
        </p:spPr>
      </p:pic>
      <p:sp>
        <p:nvSpPr>
          <p:cNvPr id="54" name="Text 47"/>
          <p:cNvSpPr/>
          <p:nvPr/>
        </p:nvSpPr>
        <p:spPr>
          <a:xfrm>
            <a:off x="7658100" y="33832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 Wallet</a:t>
            </a:r>
            <a:endParaRPr lang="en-US" sz="1400" dirty="0"/>
          </a:p>
        </p:txBody>
      </p:sp>
      <p:sp>
        <p:nvSpPr>
          <p:cNvPr id="55" name="Text 48"/>
          <p:cNvSpPr/>
          <p:nvPr/>
        </p:nvSpPr>
        <p:spPr>
          <a:xfrm>
            <a:off x="7658100" y="37033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Cardano wallet to sign the mint</a:t>
            </a:r>
            <a:endParaRPr lang="en-US" sz="850" dirty="0"/>
          </a:p>
        </p:txBody>
      </p:sp>
      <p:sp>
        <p:nvSpPr>
          <p:cNvPr id="56" name="Shape 49"/>
          <p:cNvSpPr/>
          <p:nvPr/>
        </p:nvSpPr>
        <p:spPr>
          <a:xfrm>
            <a:off x="7703820" y="4114800"/>
            <a:ext cx="2377440" cy="347472"/>
          </a:xfrm>
          <a:prstGeom prst="roundRect">
            <a:avLst>
              <a:gd name="adj" fmla="val 15789"/>
            </a:avLst>
          </a:prstGeom>
          <a:solidFill>
            <a:srgbClr val="F5F7FA"/>
          </a:solidFill>
          <a:ln/>
        </p:spPr>
      </p:sp>
      <p:sp>
        <p:nvSpPr>
          <p:cNvPr id="57" name="Shape 50"/>
          <p:cNvSpPr/>
          <p:nvPr/>
        </p:nvSpPr>
        <p:spPr>
          <a:xfrm>
            <a:off x="7840980" y="4187952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8" name="Text 51"/>
          <p:cNvSpPr/>
          <p:nvPr/>
        </p:nvSpPr>
        <p:spPr>
          <a:xfrm>
            <a:off x="8161020" y="416966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3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</a:t>
            </a:r>
            <a:endParaRPr lang="en-US" sz="1050" dirty="0"/>
          </a:p>
        </p:txBody>
      </p:sp>
      <p:sp>
        <p:nvSpPr>
          <p:cNvPr id="59" name="Shape 52"/>
          <p:cNvSpPr/>
          <p:nvPr/>
        </p:nvSpPr>
        <p:spPr>
          <a:xfrm>
            <a:off x="7703820" y="4553712"/>
            <a:ext cx="2377440" cy="347472"/>
          </a:xfrm>
          <a:prstGeom prst="roundRect">
            <a:avLst>
              <a:gd name="adj" fmla="val 15789"/>
            </a:avLst>
          </a:prstGeom>
          <a:solidFill>
            <a:srgbClr val="F5F7FA"/>
          </a:solidFill>
          <a:ln/>
        </p:spPr>
      </p:sp>
      <p:sp>
        <p:nvSpPr>
          <p:cNvPr id="60" name="Shape 53"/>
          <p:cNvSpPr/>
          <p:nvPr/>
        </p:nvSpPr>
        <p:spPr>
          <a:xfrm>
            <a:off x="7840980" y="4626864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1" name="Text 54"/>
          <p:cNvSpPr/>
          <p:nvPr/>
        </p:nvSpPr>
        <p:spPr>
          <a:xfrm>
            <a:off x="8161020" y="460857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3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Eternl</a:t>
            </a:r>
            <a:endParaRPr lang="en-US" sz="1050" dirty="0"/>
          </a:p>
        </p:txBody>
      </p:sp>
      <p:sp>
        <p:nvSpPr>
          <p:cNvPr id="62" name="Shape 55"/>
          <p:cNvSpPr/>
          <p:nvPr/>
        </p:nvSpPr>
        <p:spPr>
          <a:xfrm>
            <a:off x="7703820" y="4992624"/>
            <a:ext cx="2377440" cy="347472"/>
          </a:xfrm>
          <a:prstGeom prst="roundRect">
            <a:avLst>
              <a:gd name="adj" fmla="val 15789"/>
            </a:avLst>
          </a:prstGeom>
          <a:solidFill>
            <a:srgbClr val="F5F7FA"/>
          </a:solidFill>
          <a:ln/>
        </p:spPr>
      </p:sp>
      <p:sp>
        <p:nvSpPr>
          <p:cNvPr id="63" name="Shape 56"/>
          <p:cNvSpPr/>
          <p:nvPr/>
        </p:nvSpPr>
        <p:spPr>
          <a:xfrm>
            <a:off x="7840980" y="5065776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4" name="Text 57"/>
          <p:cNvSpPr/>
          <p:nvPr/>
        </p:nvSpPr>
        <p:spPr>
          <a:xfrm>
            <a:off x="8161020" y="504748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3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Lace</a:t>
            </a:r>
            <a:endParaRPr lang="en-US" sz="1050" dirty="0"/>
          </a:p>
        </p:txBody>
      </p:sp>
      <p:sp>
        <p:nvSpPr>
          <p:cNvPr id="65" name="Text 58"/>
          <p:cNvSpPr/>
          <p:nvPr/>
        </p:nvSpPr>
        <p:spPr>
          <a:xfrm>
            <a:off x="6263640" y="6172200"/>
            <a:ext cx="5257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Cardano Wallet Connection Modal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1D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PROOFPASS WINS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Traditional verification vs. Proofpass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206240" y="1764792"/>
            <a:ext cx="3566160" cy="457200"/>
          </a:xfrm>
          <a:prstGeom prst="roundRect">
            <a:avLst>
              <a:gd name="adj" fmla="val 12000"/>
            </a:avLst>
          </a:prstGeom>
          <a:solidFill>
            <a:srgbClr val="3A2430"/>
          </a:solidFill>
          <a:ln/>
        </p:spPr>
      </p:sp>
      <p:sp>
        <p:nvSpPr>
          <p:cNvPr id="6" name="Text 4"/>
          <p:cNvSpPr/>
          <p:nvPr/>
        </p:nvSpPr>
        <p:spPr>
          <a:xfrm>
            <a:off x="4206240" y="18745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E8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955280" y="1764792"/>
            <a:ext cx="3566160" cy="457200"/>
          </a:xfrm>
          <a:prstGeom prst="roundRect">
            <a:avLst>
              <a:gd name="adj" fmla="val 12000"/>
            </a:avLst>
          </a:prstGeom>
          <a:solidFill>
            <a:srgbClr val="12463F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0" y="18745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21D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PROOFPASS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414016"/>
            <a:ext cx="10881360" cy="713232"/>
          </a:xfrm>
          <a:prstGeom prst="rect">
            <a:avLst/>
          </a:prstGeom>
          <a:solidFill>
            <a:srgbClr val="132A5E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468880"/>
            <a:ext cx="3108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time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343400" y="2468880"/>
            <a:ext cx="3291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7A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of emails &amp; phone calls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092440" y="2468880"/>
            <a:ext cx="3291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E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Seconds via hash lookup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77240" y="3182112"/>
            <a:ext cx="3108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 resistance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343400" y="3182112"/>
            <a:ext cx="3291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7A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Easily edited PDFs &amp; images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092440" y="3182112"/>
            <a:ext cx="3291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E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Cardano NFT record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10881360" cy="713232"/>
          </a:xfrm>
          <a:prstGeom prst="rect">
            <a:avLst/>
          </a:prstGeom>
          <a:solidFill>
            <a:srgbClr val="132A5E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895344"/>
            <a:ext cx="3108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of truth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343400" y="3895344"/>
            <a:ext cx="3291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7A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issuer records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092440" y="3895344"/>
            <a:ext cx="3291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E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on-chain registry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77240" y="4608576"/>
            <a:ext cx="3108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origin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343400" y="4608576"/>
            <a:ext cx="3291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7A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the issuer's word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092440" y="4608576"/>
            <a:ext cx="3291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E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SHA-256 match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" y="5266944"/>
            <a:ext cx="10881360" cy="713232"/>
          </a:xfrm>
          <a:prstGeom prst="rect">
            <a:avLst/>
          </a:prstGeom>
          <a:solidFill>
            <a:srgbClr val="132A5E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5321808"/>
            <a:ext cx="3108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 effort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343400" y="5321808"/>
            <a:ext cx="3291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7A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outreach per candidate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092440" y="5321808"/>
            <a:ext cx="3291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E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 upload or shortcode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STARTED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Proofpass locally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02920" cy="502920"/>
          </a:xfrm>
          <a:prstGeom prst="ellipse">
            <a:avLst/>
          </a:prstGeom>
          <a:solidFill>
            <a:srgbClr val="0A1F4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D4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947672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dependencies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846320" y="1892808"/>
            <a:ext cx="6675120" cy="640080"/>
          </a:xfrm>
          <a:prstGeom prst="roundRect">
            <a:avLst>
              <a:gd name="adj" fmla="val 10000"/>
            </a:avLst>
          </a:prstGeom>
          <a:solidFill>
            <a:srgbClr val="132A5E"/>
          </a:solidFill>
          <a:ln/>
        </p:spPr>
      </p:sp>
      <p:sp>
        <p:nvSpPr>
          <p:cNvPr id="8" name="Text 6"/>
          <p:cNvSpPr/>
          <p:nvPr/>
        </p:nvSpPr>
        <p:spPr>
          <a:xfrm>
            <a:off x="5074920" y="1892808"/>
            <a:ext cx="6309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D4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91540" y="2468880"/>
            <a:ext cx="0" cy="502920"/>
          </a:xfrm>
          <a:prstGeom prst="line">
            <a:avLst/>
          </a:prstGeom>
          <a:noFill/>
          <a:ln w="19050">
            <a:solidFill>
              <a:srgbClr val="E3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971800"/>
            <a:ext cx="502920" cy="502920"/>
          </a:xfrm>
          <a:prstGeom prst="ellipse">
            <a:avLst/>
          </a:prstGeom>
          <a:solidFill>
            <a:srgbClr val="0A1F44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971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D4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71600" y="2953512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environment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846320" y="2898648"/>
            <a:ext cx="6675120" cy="640080"/>
          </a:xfrm>
          <a:prstGeom prst="roundRect">
            <a:avLst>
              <a:gd name="adj" fmla="val 10000"/>
            </a:avLst>
          </a:prstGeom>
          <a:solidFill>
            <a:srgbClr val="132A5E"/>
          </a:solidFill>
          <a:ln/>
        </p:spPr>
      </p:sp>
      <p:sp>
        <p:nvSpPr>
          <p:cNvPr id="14" name="Text 12"/>
          <p:cNvSpPr/>
          <p:nvPr/>
        </p:nvSpPr>
        <p:spPr>
          <a:xfrm>
            <a:off x="5074920" y="2898648"/>
            <a:ext cx="6309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D4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Cardano, Gemini &amp; Pinata keys in .env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91540" y="3474720"/>
            <a:ext cx="0" cy="502920"/>
          </a:xfrm>
          <a:prstGeom prst="line">
            <a:avLst/>
          </a:prstGeom>
          <a:noFill/>
          <a:ln w="19050">
            <a:solidFill>
              <a:srgbClr val="E3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977640"/>
            <a:ext cx="502920" cy="502920"/>
          </a:xfrm>
          <a:prstGeom prst="ellipse">
            <a:avLst/>
          </a:prstGeom>
          <a:solidFill>
            <a:srgbClr val="0A1F44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977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D4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71600" y="3959352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 the database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846320" y="3904488"/>
            <a:ext cx="6675120" cy="640080"/>
          </a:xfrm>
          <a:prstGeom prst="roundRect">
            <a:avLst>
              <a:gd name="adj" fmla="val 10000"/>
            </a:avLst>
          </a:prstGeom>
          <a:solidFill>
            <a:srgbClr val="132A5E"/>
          </a:solidFill>
          <a:ln/>
        </p:spPr>
      </p:sp>
      <p:sp>
        <p:nvSpPr>
          <p:cNvPr id="20" name="Text 18"/>
          <p:cNvSpPr/>
          <p:nvPr/>
        </p:nvSpPr>
        <p:spPr>
          <a:xfrm>
            <a:off x="5074920" y="3904488"/>
            <a:ext cx="6309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D4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prisma db push &amp;&amp; node prisma/seed.js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91540" y="4480560"/>
            <a:ext cx="0" cy="502920"/>
          </a:xfrm>
          <a:prstGeom prst="line">
            <a:avLst/>
          </a:prstGeom>
          <a:noFill/>
          <a:ln w="19050">
            <a:solidFill>
              <a:srgbClr val="E3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4983480"/>
            <a:ext cx="502920" cy="502920"/>
          </a:xfrm>
          <a:prstGeom prst="ellipse">
            <a:avLst/>
          </a:prstGeom>
          <a:solidFill>
            <a:srgbClr val="0A1F44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983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D4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371600" y="4965192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the dev server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846320" y="4910328"/>
            <a:ext cx="6675120" cy="640080"/>
          </a:xfrm>
          <a:prstGeom prst="roundRect">
            <a:avLst>
              <a:gd name="adj" fmla="val 10000"/>
            </a:avLst>
          </a:prstGeom>
          <a:solidFill>
            <a:srgbClr val="132A5E"/>
          </a:solidFill>
          <a:ln/>
        </p:spPr>
      </p:sp>
      <p:sp>
        <p:nvSpPr>
          <p:cNvPr id="26" name="Text 24"/>
          <p:cNvSpPr/>
          <p:nvPr/>
        </p:nvSpPr>
        <p:spPr>
          <a:xfrm>
            <a:off x="5074920" y="4910328"/>
            <a:ext cx="6309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D4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dev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40080" y="61264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open http://localhost:3000 to view the landing page, or /verify for the verification portal.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by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615288" y="2194560"/>
            <a:ext cx="420624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A1F44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078328" y="2697480"/>
            <a:ext cx="1280160" cy="1280160"/>
          </a:xfrm>
          <a:prstGeom prst="ellipse">
            <a:avLst/>
          </a:prstGeom>
          <a:solidFill>
            <a:srgbClr val="0A1F44"/>
          </a:solidFill>
          <a:ln/>
        </p:spPr>
      </p:sp>
      <p:pic>
        <p:nvPicPr>
          <p:cNvPr id="6" name="Image 0" descr="/home/claude/proofpass/icons/users_mi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98368" y="301752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15288" y="416052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Chetan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615288" y="464515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Proofpass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370168" y="2194560"/>
            <a:ext cx="420624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A1F44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833208" y="2697480"/>
            <a:ext cx="1280160" cy="1280160"/>
          </a:xfrm>
          <a:prstGeom prst="ellipse">
            <a:avLst/>
          </a:prstGeom>
          <a:solidFill>
            <a:srgbClr val="0A1F44"/>
          </a:solidFill>
          <a:ln/>
        </p:spPr>
      </p:sp>
      <p:pic>
        <p:nvPicPr>
          <p:cNvPr id="11" name="Image 1" descr="/home/claude/proofpass/icons/users_mi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3248" y="3017520"/>
            <a:ext cx="640080" cy="640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370168" y="416052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Yekeshwar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6370168" y="464515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Proofpass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132A5E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3657600"/>
            <a:ext cx="5029200" cy="5029200"/>
          </a:xfrm>
          <a:prstGeom prst="ellipse">
            <a:avLst/>
          </a:prstGeom>
          <a:solidFill>
            <a:srgbClr val="132A5E"/>
          </a:solidFill>
          <a:ln/>
        </p:spPr>
      </p:sp>
      <p:sp>
        <p:nvSpPr>
          <p:cNvPr id="4" name="Shape 2"/>
          <p:cNvSpPr/>
          <p:nvPr/>
        </p:nvSpPr>
        <p:spPr>
          <a:xfrm>
            <a:off x="5592928" y="1920240"/>
            <a:ext cx="1005840" cy="1005840"/>
          </a:xfrm>
          <a:prstGeom prst="ellipse">
            <a:avLst/>
          </a:prstGeom>
          <a:solidFill>
            <a:srgbClr val="21D4B4"/>
          </a:solidFill>
          <a:ln/>
        </p:spPr>
      </p:sp>
      <p:pic>
        <p:nvPicPr>
          <p:cNvPr id="5" name="Image 0" descr="/home/claude/proofpass/icons/shield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3240" y="2130552"/>
            <a:ext cx="585216" cy="585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3200400"/>
            <a:ext cx="121916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0" y="397764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1D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Proofpass — trust, verified on-chain.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0" y="457200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Chetan  •  Yekeshwar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0" y="603504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C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localhost:3000  ·  localhost:3000/verify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2026-07-12T12:59:11Z</dcterms:created>
  <dcterms:modified xsi:type="dcterms:W3CDTF">2026-07-12T12:59:11Z</dcterms:modified>
</cp:coreProperties>
</file>